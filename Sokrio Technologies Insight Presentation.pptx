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86" r:id="rId5"/>
    <p:sldId id="278" r:id="rId6"/>
    <p:sldId id="287" r:id="rId7"/>
    <p:sldId id="288" r:id="rId8"/>
    <p:sldId id="289" r:id="rId9"/>
    <p:sldId id="282" r:id="rId10"/>
    <p:sldId id="293" r:id="rId11"/>
    <p:sldId id="294" r:id="rId12"/>
    <p:sldId id="292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4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D98CD-3F77-4CBD-9EC2-420E8160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113" y="622052"/>
            <a:ext cx="7659688" cy="868082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B3DCD-0B80-4E27-A8F4-D11EAD8C8635}"/>
              </a:ext>
            </a:extLst>
          </p:cNvPr>
          <p:cNvSpPr txBox="1"/>
          <p:nvPr/>
        </p:nvSpPr>
        <p:spPr>
          <a:xfrm>
            <a:off x="3403601" y="2816199"/>
            <a:ext cx="386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by: Md.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Zubayer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Hasan</a:t>
            </a:r>
          </a:p>
        </p:txBody>
      </p:sp>
    </p:spTree>
    <p:extLst>
      <p:ext uri="{BB962C8B-B14F-4D97-AF65-F5344CB8AC3E}">
        <p14:creationId xmlns:p14="http://schemas.microsoft.com/office/powerpoint/2010/main" val="4591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CFBB91-52E2-4AB8-BA14-FAC8A0E40018}"/>
              </a:ext>
            </a:extLst>
          </p:cNvPr>
          <p:cNvSpPr txBox="1"/>
          <p:nvPr/>
        </p:nvSpPr>
        <p:spPr>
          <a:xfrm>
            <a:off x="3911600" y="592667"/>
            <a:ext cx="42248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Goal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0A854-DFCB-4080-8321-BC8703BD9B30}"/>
              </a:ext>
            </a:extLst>
          </p:cNvPr>
          <p:cNvSpPr txBox="1"/>
          <p:nvPr/>
        </p:nvSpPr>
        <p:spPr>
          <a:xfrm>
            <a:off x="2683932" y="2105561"/>
            <a:ext cx="9050867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Focused on analyzing key performance metrics.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 high-performing products, categories, and territories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discount and pricing strategies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 above trends</a:t>
            </a:r>
          </a:p>
        </p:txBody>
      </p:sp>
    </p:spTree>
    <p:extLst>
      <p:ext uri="{BB962C8B-B14F-4D97-AF65-F5344CB8AC3E}">
        <p14:creationId xmlns:p14="http://schemas.microsoft.com/office/powerpoint/2010/main" val="2198959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27CAF-B8A4-4AAC-A408-4FE67769A72E}"/>
              </a:ext>
            </a:extLst>
          </p:cNvPr>
          <p:cNvSpPr txBox="1"/>
          <p:nvPr/>
        </p:nvSpPr>
        <p:spPr>
          <a:xfrm>
            <a:off x="1329267" y="389466"/>
            <a:ext cx="972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 and preprocessing 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A663B-F4C6-47CF-9D4A-DB8AB2AB45E5}"/>
              </a:ext>
            </a:extLst>
          </p:cNvPr>
          <p:cNvSpPr txBox="1"/>
          <p:nvPr/>
        </p:nvSpPr>
        <p:spPr>
          <a:xfrm>
            <a:off x="2429933" y="2292920"/>
            <a:ext cx="7831667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Sales transaction records provided by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Sokrio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Technologies</a:t>
            </a:r>
            <a:r>
              <a:rPr lang="en-US" sz="2000" dirty="0"/>
              <a:t>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Preprocessing: Handled null values</a:t>
            </a:r>
            <a:r>
              <a:rPr lang="en-US" sz="2000" dirty="0"/>
              <a:t>,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calculated measures and columns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750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E4E55-EED9-4B60-9DCD-068289BC0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632" y="135593"/>
            <a:ext cx="8282735" cy="838200"/>
          </a:xfrm>
        </p:spPr>
        <p:txBody>
          <a:bodyPr/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 and preprocessing 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CC1E38-5974-4283-BB34-CB06125B4A36}"/>
              </a:ext>
            </a:extLst>
          </p:cNvPr>
          <p:cNvSpPr/>
          <p:nvPr/>
        </p:nvSpPr>
        <p:spPr>
          <a:xfrm>
            <a:off x="5020236" y="1187825"/>
            <a:ext cx="1783976" cy="7082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EE3B8C-1269-4DDB-91C2-C8D1C9275158}"/>
              </a:ext>
            </a:extLst>
          </p:cNvPr>
          <p:cNvSpPr/>
          <p:nvPr/>
        </p:nvSpPr>
        <p:spPr>
          <a:xfrm>
            <a:off x="1573801" y="3173510"/>
            <a:ext cx="3110752" cy="206735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 missing values: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Detected null entries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Replaced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Processed directly in Power BI before visualization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6502D7-D14F-4922-AA8C-0BB9ED07EDCC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5912224" y="1896036"/>
            <a:ext cx="4482" cy="428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D049CD8-9E9B-4FAA-9216-6724A7AF124C}"/>
              </a:ext>
            </a:extLst>
          </p:cNvPr>
          <p:cNvSpPr/>
          <p:nvPr/>
        </p:nvSpPr>
        <p:spPr>
          <a:xfrm>
            <a:off x="7422778" y="3173510"/>
            <a:ext cx="3110752" cy="206735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measures: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categorization (e.g., Unknown) where appropriate.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new column (e.g., Discount Group).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0A2C31-5D32-40A3-B21B-F0668C4855D2}"/>
              </a:ext>
            </a:extLst>
          </p:cNvPr>
          <p:cNvCxnSpPr>
            <a:cxnSpLocks/>
          </p:cNvCxnSpPr>
          <p:nvPr/>
        </p:nvCxnSpPr>
        <p:spPr>
          <a:xfrm>
            <a:off x="3065929" y="2324100"/>
            <a:ext cx="58405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1C98C4-810E-4958-B820-4F705A799567}"/>
              </a:ext>
            </a:extLst>
          </p:cNvPr>
          <p:cNvCxnSpPr/>
          <p:nvPr/>
        </p:nvCxnSpPr>
        <p:spPr>
          <a:xfrm>
            <a:off x="3065929" y="2324100"/>
            <a:ext cx="0" cy="849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701E8D-8B54-4324-814A-1C9B22A3DC4D}"/>
              </a:ext>
            </a:extLst>
          </p:cNvPr>
          <p:cNvCxnSpPr/>
          <p:nvPr/>
        </p:nvCxnSpPr>
        <p:spPr>
          <a:xfrm>
            <a:off x="8910919" y="2324100"/>
            <a:ext cx="0" cy="849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11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69E7-40BF-4ADE-A14F-556CF757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3449" y="285388"/>
            <a:ext cx="3416544" cy="784411"/>
          </a:xfrm>
        </p:spPr>
        <p:txBody>
          <a:bodyPr/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F1BC17-666E-43C1-A526-3DCE3CB7276E}"/>
              </a:ext>
            </a:extLst>
          </p:cNvPr>
          <p:cNvCxnSpPr>
            <a:cxnSpLocks/>
          </p:cNvCxnSpPr>
          <p:nvPr/>
        </p:nvCxnSpPr>
        <p:spPr>
          <a:xfrm>
            <a:off x="3327898" y="1795543"/>
            <a:ext cx="0" cy="3725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350AEB-F361-498E-B685-DFD15D588DC1}"/>
              </a:ext>
            </a:extLst>
          </p:cNvPr>
          <p:cNvCxnSpPr>
            <a:cxnSpLocks/>
          </p:cNvCxnSpPr>
          <p:nvPr/>
        </p:nvCxnSpPr>
        <p:spPr>
          <a:xfrm>
            <a:off x="3327898" y="1795543"/>
            <a:ext cx="1210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E05D01B-ED03-490E-894F-1AE80FB48FC2}"/>
              </a:ext>
            </a:extLst>
          </p:cNvPr>
          <p:cNvSpPr/>
          <p:nvPr/>
        </p:nvSpPr>
        <p:spPr>
          <a:xfrm>
            <a:off x="4538133" y="1226163"/>
            <a:ext cx="3594829" cy="17962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Descriptive Analysis: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trends Over Time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Product-Category wise Total Volume Percentage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performance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Territory Contribution</a:t>
            </a:r>
          </a:p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F80ED7-2DA9-4FD5-B228-0AFC18BE23CC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327898" y="5521410"/>
            <a:ext cx="1210235" cy="6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923724C-145E-4511-BBCB-0FC284E413CD}"/>
              </a:ext>
            </a:extLst>
          </p:cNvPr>
          <p:cNvSpPr/>
          <p:nvPr/>
        </p:nvSpPr>
        <p:spPr>
          <a:xfrm>
            <a:off x="4538133" y="3451208"/>
            <a:ext cx="3594822" cy="115644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 Analysis: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of Discounts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 of Highly Returned Sub-category</a:t>
            </a:r>
          </a:p>
          <a:p>
            <a:endParaRPr lang="en-US" sz="1700" dirty="0"/>
          </a:p>
          <a:p>
            <a:pPr algn="ctr"/>
            <a:endParaRPr lang="en-US" sz="17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CC8D9C-BA0C-49DA-9AB1-019102BC27E8}"/>
              </a:ext>
            </a:extLst>
          </p:cNvPr>
          <p:cNvCxnSpPr/>
          <p:nvPr/>
        </p:nvCxnSpPr>
        <p:spPr>
          <a:xfrm>
            <a:off x="3327898" y="4118286"/>
            <a:ext cx="1210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4F9F8D3-A3DB-4E54-9124-5B3D61545A0C}"/>
              </a:ext>
            </a:extLst>
          </p:cNvPr>
          <p:cNvSpPr/>
          <p:nvPr/>
        </p:nvSpPr>
        <p:spPr>
          <a:xfrm>
            <a:off x="4538133" y="5054150"/>
            <a:ext cx="3594825" cy="94850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Analysis: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6 Months Revenue Prediction</a:t>
            </a:r>
          </a:p>
          <a:p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342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6116FF-F49B-49CA-B82C-74C387375B25}"/>
              </a:ext>
            </a:extLst>
          </p:cNvPr>
          <p:cNvSpPr txBox="1"/>
          <p:nvPr/>
        </p:nvSpPr>
        <p:spPr>
          <a:xfrm>
            <a:off x="3149600" y="331857"/>
            <a:ext cx="60282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Descriptive Analysis 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22BA0-7311-4046-9F1D-D4165A0F9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4" y="1353372"/>
            <a:ext cx="4859866" cy="26936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DEC4BA-F694-4022-90E4-239B3A084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353371"/>
            <a:ext cx="3826933" cy="2693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7F4362-BB86-40CF-B97F-EA25280DE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134" y="1353371"/>
            <a:ext cx="3115734" cy="26936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57F2C-5BDB-42D1-8977-19D90E83E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34" y="4157133"/>
            <a:ext cx="4859866" cy="26292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3BCEA3-AFED-42F9-9F23-3E801B559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4600" y="4157132"/>
            <a:ext cx="3826933" cy="26292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4EE48D-1D9C-4C6E-9321-1B5E3A3D24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3133" y="4157782"/>
            <a:ext cx="3115733" cy="262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90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FD7D5E-B06E-444F-9236-661B14CE1E10}"/>
              </a:ext>
            </a:extLst>
          </p:cNvPr>
          <p:cNvSpPr txBox="1"/>
          <p:nvPr/>
        </p:nvSpPr>
        <p:spPr>
          <a:xfrm>
            <a:off x="3441700" y="440267"/>
            <a:ext cx="530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131B5-98AA-4552-B18A-40149D97C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896533"/>
            <a:ext cx="4529668" cy="31157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463B74-F669-4ACD-9A8E-8DDD9DFE2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191" y="1896533"/>
            <a:ext cx="4782217" cy="311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29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23C299-1FB7-4E3B-9A54-76C7FA998F38}"/>
              </a:ext>
            </a:extLst>
          </p:cNvPr>
          <p:cNvSpPr txBox="1"/>
          <p:nvPr/>
        </p:nvSpPr>
        <p:spPr>
          <a:xfrm>
            <a:off x="3640666" y="491068"/>
            <a:ext cx="5122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D573A-3DA2-47FC-A601-0E3B2CD9E0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9" t="-1359" r="2884" b="11038"/>
          <a:stretch/>
        </p:blipFill>
        <p:spPr>
          <a:xfrm>
            <a:off x="3251200" y="2040466"/>
            <a:ext cx="648546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03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DA1D-0BD3-49CE-B128-37D71E971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126" y="378387"/>
            <a:ext cx="7771748" cy="891988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Indicators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878A8D-6F10-4A61-A932-B4F7E2CC3740}"/>
              </a:ext>
            </a:extLst>
          </p:cNvPr>
          <p:cNvCxnSpPr>
            <a:cxnSpLocks/>
          </p:cNvCxnSpPr>
          <p:nvPr/>
        </p:nvCxnSpPr>
        <p:spPr>
          <a:xfrm>
            <a:off x="2347010" y="1978959"/>
            <a:ext cx="0" cy="1036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A59824-FC2E-40DE-B4E2-67DBE610FF29}"/>
              </a:ext>
            </a:extLst>
          </p:cNvPr>
          <p:cNvCxnSpPr>
            <a:cxnSpLocks/>
          </p:cNvCxnSpPr>
          <p:nvPr/>
        </p:nvCxnSpPr>
        <p:spPr>
          <a:xfrm>
            <a:off x="5257801" y="1978959"/>
            <a:ext cx="0" cy="1040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35D7109-AF73-46A3-82A7-3D331F3758BB}"/>
              </a:ext>
            </a:extLst>
          </p:cNvPr>
          <p:cNvCxnSpPr>
            <a:cxnSpLocks/>
          </p:cNvCxnSpPr>
          <p:nvPr/>
        </p:nvCxnSpPr>
        <p:spPr>
          <a:xfrm>
            <a:off x="8199718" y="1942543"/>
            <a:ext cx="0" cy="1070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79259A-079C-4431-A77C-F8315FB5E436}"/>
              </a:ext>
            </a:extLst>
          </p:cNvPr>
          <p:cNvCxnSpPr>
            <a:cxnSpLocks/>
          </p:cNvCxnSpPr>
          <p:nvPr/>
        </p:nvCxnSpPr>
        <p:spPr>
          <a:xfrm>
            <a:off x="10580424" y="1954306"/>
            <a:ext cx="0" cy="1067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8EE7731-693A-48B3-B3DE-D7588C46887A}"/>
              </a:ext>
            </a:extLst>
          </p:cNvPr>
          <p:cNvSpPr/>
          <p:nvPr/>
        </p:nvSpPr>
        <p:spPr>
          <a:xfrm>
            <a:off x="1613647" y="3015189"/>
            <a:ext cx="2021535" cy="7082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 Revenue(BDT)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1090898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93DAD2-82FC-4B1B-B233-71EACCF08F3D}"/>
              </a:ext>
            </a:extLst>
          </p:cNvPr>
          <p:cNvSpPr/>
          <p:nvPr/>
        </p:nvSpPr>
        <p:spPr>
          <a:xfrm>
            <a:off x="6880420" y="3013309"/>
            <a:ext cx="2021535" cy="7082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41K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A337EF-886A-409A-9F28-C80414CD2409}"/>
              </a:ext>
            </a:extLst>
          </p:cNvPr>
          <p:cNvSpPr/>
          <p:nvPr/>
        </p:nvSpPr>
        <p:spPr>
          <a:xfrm>
            <a:off x="4083301" y="3021542"/>
            <a:ext cx="2349000" cy="7018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Unique Product Category 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31A0E1-D18B-46C4-A3AB-E0F1B7662BE6}"/>
              </a:ext>
            </a:extLst>
          </p:cNvPr>
          <p:cNvSpPr/>
          <p:nvPr/>
        </p:nvSpPr>
        <p:spPr>
          <a:xfrm>
            <a:off x="9287313" y="3013309"/>
            <a:ext cx="1750529" cy="71584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Unique Product  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609450-A36D-4FA8-A73E-7342CE281E65}"/>
              </a:ext>
            </a:extLst>
          </p:cNvPr>
          <p:cNvCxnSpPr>
            <a:cxnSpLocks/>
          </p:cNvCxnSpPr>
          <p:nvPr/>
        </p:nvCxnSpPr>
        <p:spPr>
          <a:xfrm flipH="1">
            <a:off x="2347010" y="1954306"/>
            <a:ext cx="8231343" cy="24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350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954391-5015-46EA-9F84-E8DD9A4C7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4"/>
            <a:ext cx="12192000" cy="685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8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06AF44-17B9-4776-AB74-654F94CAE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70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405D76-580B-4D98-A3C9-5CB5096497DE}"/>
              </a:ext>
            </a:extLst>
          </p:cNvPr>
          <p:cNvSpPr/>
          <p:nvPr/>
        </p:nvSpPr>
        <p:spPr>
          <a:xfrm>
            <a:off x="2573139" y="255599"/>
            <a:ext cx="67578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Diagnoses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923619-D0F0-462E-B8C6-9023A3B61C8D}"/>
              </a:ext>
            </a:extLst>
          </p:cNvPr>
          <p:cNvSpPr txBox="1"/>
          <p:nvPr/>
        </p:nvSpPr>
        <p:spPr>
          <a:xfrm>
            <a:off x="897468" y="2261730"/>
            <a:ext cx="4385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Trend: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Peaks in February, dip in May.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FD4C3-2475-46E9-933D-C8453AEDB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133" y="1476533"/>
            <a:ext cx="4826000" cy="2278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3E9B90-28BE-43FB-80B1-482F593B1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133" y="3971837"/>
            <a:ext cx="4826000" cy="22782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F98B6EEC-1004-472C-9F36-99092F3F5E13}"/>
              </a:ext>
            </a:extLst>
          </p:cNvPr>
          <p:cNvSpPr/>
          <p:nvPr/>
        </p:nvSpPr>
        <p:spPr>
          <a:xfrm>
            <a:off x="5713258" y="2209485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72C930-82A6-43F3-AD55-E885A1BB78D9}"/>
              </a:ext>
            </a:extLst>
          </p:cNvPr>
          <p:cNvSpPr/>
          <p:nvPr/>
        </p:nvSpPr>
        <p:spPr>
          <a:xfrm>
            <a:off x="732003" y="4787811"/>
            <a:ext cx="45511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No. VS Revenue: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Revenue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Week-6.</a:t>
            </a: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A982B8AF-F44C-4308-822D-9861A98F6ABF}"/>
              </a:ext>
            </a:extLst>
          </p:cNvPr>
          <p:cNvSpPr/>
          <p:nvPr/>
        </p:nvSpPr>
        <p:spPr>
          <a:xfrm>
            <a:off x="5782873" y="4687321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Striped Right 2">
            <a:extLst>
              <a:ext uri="{FF2B5EF4-FFF2-40B4-BE49-F238E27FC236}">
                <a16:creationId xmlns:a16="http://schemas.microsoft.com/office/drawing/2014/main" id="{E738EA49-FA08-45BB-B89D-3AA92C1C0A0C}"/>
              </a:ext>
            </a:extLst>
          </p:cNvPr>
          <p:cNvSpPr/>
          <p:nvPr/>
        </p:nvSpPr>
        <p:spPr>
          <a:xfrm>
            <a:off x="5378459" y="2694552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491B1-BC74-421A-9BA2-DE3D82469E3F}"/>
              </a:ext>
            </a:extLst>
          </p:cNvPr>
          <p:cNvSpPr txBox="1"/>
          <p:nvPr/>
        </p:nvSpPr>
        <p:spPr>
          <a:xfrm>
            <a:off x="948964" y="2566554"/>
            <a:ext cx="40216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Performing Products: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Pound Cakes and Sliced Cakes generated the highest revenue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A19700-2BB6-4286-95CA-0E38BDFB4C4A}"/>
              </a:ext>
            </a:extLst>
          </p:cNvPr>
          <p:cNvSpPr/>
          <p:nvPr/>
        </p:nvSpPr>
        <p:spPr>
          <a:xfrm>
            <a:off x="3177777" y="458800"/>
            <a:ext cx="5912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Diagnoses</a:t>
            </a:r>
            <a:endParaRPr lang="en-US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6643E5-E732-4240-8695-B796DAAE9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28" y="1837266"/>
            <a:ext cx="4734586" cy="26839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14667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2C5BB0-46A8-42E9-B8C7-249370C58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1" y="1627068"/>
            <a:ext cx="4822143" cy="26497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F03295A-2936-4D35-B154-6DC5C5DCEEC2}"/>
              </a:ext>
            </a:extLst>
          </p:cNvPr>
          <p:cNvSpPr/>
          <p:nvPr/>
        </p:nvSpPr>
        <p:spPr>
          <a:xfrm>
            <a:off x="774700" y="2474893"/>
            <a:ext cx="5359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 Contribution: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Pound Cake contributed nearly 39% of total sales revenue, followed by Sliced Cakes (24%).</a:t>
            </a:r>
            <a:endParaRPr lang="en-US" dirty="0"/>
          </a:p>
        </p:txBody>
      </p:sp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335E90F6-A786-4834-8001-3AEF47AAF590}"/>
              </a:ext>
            </a:extLst>
          </p:cNvPr>
          <p:cNvSpPr/>
          <p:nvPr/>
        </p:nvSpPr>
        <p:spPr>
          <a:xfrm>
            <a:off x="5683624" y="2602888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02EB28-4082-4A5B-8439-F230B20580B7}"/>
              </a:ext>
            </a:extLst>
          </p:cNvPr>
          <p:cNvSpPr/>
          <p:nvPr/>
        </p:nvSpPr>
        <p:spPr>
          <a:xfrm>
            <a:off x="3015168" y="433401"/>
            <a:ext cx="5912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Diagnoses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69800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E731E0-58AF-4DD2-AF34-404686F84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631" y="1502534"/>
            <a:ext cx="4292600" cy="22019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Arrow: Striped Right 2">
            <a:extLst>
              <a:ext uri="{FF2B5EF4-FFF2-40B4-BE49-F238E27FC236}">
                <a16:creationId xmlns:a16="http://schemas.microsoft.com/office/drawing/2014/main" id="{9DDAF6F3-CAC8-49D5-856D-30B5E5B05E7D}"/>
              </a:ext>
            </a:extLst>
          </p:cNvPr>
          <p:cNvSpPr/>
          <p:nvPr/>
        </p:nvSpPr>
        <p:spPr>
          <a:xfrm>
            <a:off x="5985934" y="2254442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74CA04-492D-40B0-83F4-4B15EBBE4598}"/>
              </a:ext>
            </a:extLst>
          </p:cNvPr>
          <p:cNvSpPr/>
          <p:nvPr/>
        </p:nvSpPr>
        <p:spPr>
          <a:xfrm>
            <a:off x="630767" y="2126446"/>
            <a:ext cx="54652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Buyer Territory Performance: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territories (e.g., IDs 1406, 1401, 1405) dominated in order volumes.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7758E-BE76-46E8-BC12-41E3DA668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631" y="3920067"/>
            <a:ext cx="4292601" cy="22613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5843FB-FD8A-4B60-A068-AAE78B83EFC4}"/>
              </a:ext>
            </a:extLst>
          </p:cNvPr>
          <p:cNvSpPr txBox="1"/>
          <p:nvPr/>
        </p:nvSpPr>
        <p:spPr>
          <a:xfrm>
            <a:off x="628650" y="4506189"/>
            <a:ext cx="5380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Buyer Department Insights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set of buyer departments contributed disproportionately to revenue.</a:t>
            </a: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893F524E-6866-46E5-878F-ACA5D4FB6259}"/>
              </a:ext>
            </a:extLst>
          </p:cNvPr>
          <p:cNvSpPr/>
          <p:nvPr/>
        </p:nvSpPr>
        <p:spPr>
          <a:xfrm>
            <a:off x="6009217" y="4618798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F6D22-9C0D-4138-BFAA-1EE56AE5BEE7}"/>
              </a:ext>
            </a:extLst>
          </p:cNvPr>
          <p:cNvSpPr/>
          <p:nvPr/>
        </p:nvSpPr>
        <p:spPr>
          <a:xfrm>
            <a:off x="2919545" y="359492"/>
            <a:ext cx="5912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Diagnoses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56270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FA19CA-B542-4A22-9C74-702E3D0F7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220" y="1778001"/>
            <a:ext cx="4953691" cy="28109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CC26D9-5A78-4FD0-8DD6-7B4D0F0DAC07}"/>
              </a:ext>
            </a:extLst>
          </p:cNvPr>
          <p:cNvSpPr txBox="1"/>
          <p:nvPr/>
        </p:nvSpPr>
        <p:spPr>
          <a:xfrm>
            <a:off x="1151467" y="2432446"/>
            <a:ext cx="426331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of Discounts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without discounts had a higher Average Order Value (≈ 26.9) compared to with discounts (≈ 15.7).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735EDA81-F16C-4E1D-9902-DE19825D5FD3}"/>
              </a:ext>
            </a:extLst>
          </p:cNvPr>
          <p:cNvSpPr/>
          <p:nvPr/>
        </p:nvSpPr>
        <p:spPr>
          <a:xfrm>
            <a:off x="5645524" y="2698943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6D365-A3B4-4B15-AA2F-0B249275DC04}"/>
              </a:ext>
            </a:extLst>
          </p:cNvPr>
          <p:cNvSpPr/>
          <p:nvPr/>
        </p:nvSpPr>
        <p:spPr>
          <a:xfrm>
            <a:off x="3139677" y="441867"/>
            <a:ext cx="5912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Diagnoses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9187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B34603-CEA0-4AD9-8B94-FE5F64E27E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9" t="2129" r="2884" b="11038"/>
          <a:stretch/>
        </p:blipFill>
        <p:spPr>
          <a:xfrm>
            <a:off x="6739467" y="1794935"/>
            <a:ext cx="5071533" cy="28109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6FC37A-41D1-4249-916C-087F44E8454D}"/>
              </a:ext>
            </a:extLst>
          </p:cNvPr>
          <p:cNvSpPr/>
          <p:nvPr/>
        </p:nvSpPr>
        <p:spPr>
          <a:xfrm>
            <a:off x="1298883" y="2723346"/>
            <a:ext cx="402665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Forecast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forecast model predicts a continued downward trend in revenue. </a:t>
            </a:r>
          </a:p>
        </p:txBody>
      </p:sp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E82207AA-ABE8-4851-9E05-981CB74F591B}"/>
              </a:ext>
            </a:extLst>
          </p:cNvPr>
          <p:cNvSpPr/>
          <p:nvPr/>
        </p:nvSpPr>
        <p:spPr>
          <a:xfrm>
            <a:off x="5740399" y="2851344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0026F9-0D8F-41E3-A3AF-C468711B73AD}"/>
              </a:ext>
            </a:extLst>
          </p:cNvPr>
          <p:cNvSpPr/>
          <p:nvPr/>
        </p:nvSpPr>
        <p:spPr>
          <a:xfrm>
            <a:off x="3055010" y="399533"/>
            <a:ext cx="5912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Diagnoses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42026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CFC787-D074-45C0-A408-3F24454811A8}"/>
              </a:ext>
            </a:extLst>
          </p:cNvPr>
          <p:cNvSpPr/>
          <p:nvPr/>
        </p:nvSpPr>
        <p:spPr>
          <a:xfrm>
            <a:off x="4554552" y="526534"/>
            <a:ext cx="308289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Findings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0D08BE-E159-4546-9E71-6CAC59689E79}"/>
              </a:ext>
            </a:extLst>
          </p:cNvPr>
          <p:cNvSpPr txBox="1"/>
          <p:nvPr/>
        </p:nvSpPr>
        <p:spPr>
          <a:xfrm>
            <a:off x="2794000" y="2040467"/>
            <a:ext cx="705273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are highly concentrated in a few products and categories(Pound Cake, Slice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Cake,etc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depends heavily on specific territories and buyers.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Discounting strategy is hurting Average Order Value rather than boosting overall sales.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seasonal variations in sales suggest planning issues in production or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62475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0790CF-EE1D-4639-B6DD-1B2AEF09B512}"/>
              </a:ext>
            </a:extLst>
          </p:cNvPr>
          <p:cNvSpPr/>
          <p:nvPr/>
        </p:nvSpPr>
        <p:spPr>
          <a:xfrm>
            <a:off x="3952861" y="450333"/>
            <a:ext cx="42862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8574D-6B2A-47EB-BC3C-88994B4F9DEC}"/>
              </a:ext>
            </a:extLst>
          </p:cNvPr>
          <p:cNvSpPr txBox="1"/>
          <p:nvPr/>
        </p:nvSpPr>
        <p:spPr>
          <a:xfrm>
            <a:off x="2755900" y="1769533"/>
            <a:ext cx="6680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Strategy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Invest in marketing and expanding mid-performing categories (e.g., Muffins, Layer Cakes) to diversify revenue sources.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Territory Growth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Strengthen distribution in underperforming regions by replicating sales strategies from top territories.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 Optimization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Shift from blanket discounts to targeted promotions, focusing on bundles, seasonal demand, and specific customer segments — to boost sales without reducing overall profitability.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Buyer Engagement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Develop loyalty programs for key buyer departments to secure repeat orders while expanding into new client bases.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Diversify seller department contributions to reduce dependency risk.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105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1CE011-CA8D-459C-B3D6-4F13934B19F8}"/>
              </a:ext>
            </a:extLst>
          </p:cNvPr>
          <p:cNvSpPr txBox="1"/>
          <p:nvPr/>
        </p:nvSpPr>
        <p:spPr>
          <a:xfrm>
            <a:off x="3014132" y="3005666"/>
            <a:ext cx="6011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757807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410</TotalTime>
  <Words>493</Words>
  <Application>Microsoft Office PowerPoint</Application>
  <PresentationFormat>Widescreen</PresentationFormat>
  <Paragraphs>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Wingdings</vt:lpstr>
      <vt:lpstr>Wingdings 3</vt:lpstr>
      <vt:lpstr>Ion</vt:lpstr>
      <vt:lpstr>Dashboard Presentation</vt:lpstr>
      <vt:lpstr>PowerPoint Presentation</vt:lpstr>
      <vt:lpstr>PowerPoint Presentation</vt:lpstr>
      <vt:lpstr>Data collection and preprocessing </vt:lpstr>
      <vt:lpstr>Analysis</vt:lpstr>
      <vt:lpstr>PowerPoint Presentation</vt:lpstr>
      <vt:lpstr>PowerPoint Presentation</vt:lpstr>
      <vt:lpstr>PowerPoint Presentation</vt:lpstr>
      <vt:lpstr>Key Performance Indicators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36</cp:revision>
  <dcterms:created xsi:type="dcterms:W3CDTF">2025-09-27T16:09:36Z</dcterms:created>
  <dcterms:modified xsi:type="dcterms:W3CDTF">2025-11-14T18:23:43Z</dcterms:modified>
</cp:coreProperties>
</file>